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717cb3d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717cb3d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717cb3d1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717cb3d1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719c5803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719c5803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719c5803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719c5803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719c58032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719c58032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719c58032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719c5803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85b8770d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85b8770d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719c58032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719c5803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atatracker.ietf.org/doc/html/rfc8446" TargetMode="External"/><Relationship Id="rId4" Type="http://schemas.openxmlformats.org/officeDocument/2006/relationships/hyperlink" Target="https://www.geeksforgeeks.org/computer-networks/diffie-hellman-key-exchange-and-perfect-forward-secrecy/" TargetMode="External"/><Relationship Id="rId5" Type="http://schemas.openxmlformats.org/officeDocument/2006/relationships/hyperlink" Target="https://www.youtube.com/@Computerphile" TargetMode="External"/><Relationship Id="rId6" Type="http://schemas.openxmlformats.org/officeDocument/2006/relationships/hyperlink" Target="https://tls13.xargs.org/" TargetMode="External"/><Relationship Id="rId7" Type="http://schemas.openxmlformats.org/officeDocument/2006/relationships/hyperlink" Target="https://x25519.xargs.org/" TargetMode="External"/><Relationship Id="rId8" Type="http://schemas.openxmlformats.org/officeDocument/2006/relationships/hyperlink" Target="https://curves.xarg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- What it is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370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TLS - Transport Layer Security is a transport layer protocol used to secure communications</a:t>
            </a:r>
            <a:endParaRPr sz="1200"/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 </a:t>
            </a:r>
            <a:r>
              <a:rPr lang="en" sz="1200"/>
              <a:t>usually</a:t>
            </a:r>
            <a:r>
              <a:rPr lang="en" sz="1200"/>
              <a:t> comes as an additional layer between TCP and HTTP/application layer protocol</a:t>
            </a:r>
            <a:endParaRPr sz="1200"/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 doesn’t handle packet loss and packet ordering so it can’t be used directly over UDP. It has a different flavor named DTLS(Datagram TLS) for this.</a:t>
            </a:r>
            <a:endParaRPr sz="1200"/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Its key functions are: Encryption, Authentication and Integrity</a:t>
            </a:r>
            <a:endParaRPr sz="1200"/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 puts the S in HTTPS, FTPS etc</a:t>
            </a:r>
            <a:endParaRPr sz="1200"/>
          </a:p>
        </p:txBody>
      </p:sp>
      <p:pic>
        <p:nvPicPr>
          <p:cNvPr id="61" name="Google Shape;61;p14" title="TLS over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500" y="1170125"/>
            <a:ext cx="458152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- Cryptography concepts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6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Symmetric cryptography  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Uses the same key for encryption and decryption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In a communication context, both peers should know the key used for encryption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key is a secret so it should be shared in a secure fashion using a key exchange mechanism like Diffie Hellman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key is shorter than the ones used for asymmetric encryption, </a:t>
            </a:r>
            <a:r>
              <a:rPr lang="en" sz="1200"/>
              <a:t>usually</a:t>
            </a:r>
            <a:r>
              <a:rPr lang="en" sz="1200"/>
              <a:t> 256 bits and the encryption/decryption operations are faster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Common usage: data encryption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Popular algorithms: AES, ChaCha20, TwoFish, BlowFish, DES, 3DES, RC4/5/6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Asymmetric cryptography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Has two keys, usually </a:t>
            </a:r>
            <a:r>
              <a:rPr lang="en" sz="1200"/>
              <a:t>referred</a:t>
            </a:r>
            <a:r>
              <a:rPr lang="en" sz="1200"/>
              <a:t> as public and private keys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What is encrypted using public key can be decrypted using the private key and vice versa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As the name suggests the private key should be kept private and never shared. Just the public key should be shared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keys are longer than the ones used for symmetric encryption and the encryption/decryption operations are slower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Common usage: digital signatures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Popular algorithms: RSA, ECDSA, EDDSA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- Cryptography concepts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6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Hashes</a:t>
            </a:r>
            <a:endParaRPr sz="1200"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One way process that converts any data of any length into a fixed length hash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Common usage: data integrity, digital signatures, password security, hashtables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Popular algorithms: SHA, BLAKE, MD5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MAC - Message authentication code</a:t>
            </a:r>
            <a:endParaRPr sz="1200"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Similar to hashes but combined with a secret key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They take in data and a key and </a:t>
            </a:r>
            <a:r>
              <a:rPr lang="en" sz="1200"/>
              <a:t>returns</a:t>
            </a:r>
            <a:r>
              <a:rPr lang="en" sz="1200"/>
              <a:t> a fixed length MAC tag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Key functions: data integrity - detects if data has been changed, authentication - confirms that the data are coming from a known source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Popular algorithms: HMAC-SHA256, Poly1305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HKDF - HMAC key derivation functions</a:t>
            </a:r>
            <a:endParaRPr sz="1200"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Is a standard cryptographic function that securely derives one or more stronger keys from the a initial one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Uses HMAC algorithm in an "extract-then-expand" process, creating keys for encryption or authentication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AEAD - Authenticated encryption with associated data</a:t>
            </a:r>
            <a:endParaRPr sz="1200"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Combines an encryption algorithm with a MAC algorithm to provide both encryption and integrity check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- Cryptography concepts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5066700" cy="36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Diffie Hellman key exchange algorithm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Allows two parties to secretly establish a shared secret key over an insecure channel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It is used in the TLS protocol to establish the shared secret key between the peers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original algorithm used the discrete logarithm problem and modular exponentiation, but it evolved into using </a:t>
            </a:r>
            <a:r>
              <a:rPr lang="en" sz="1200"/>
              <a:t>elliptic</a:t>
            </a:r>
            <a:r>
              <a:rPr lang="en" sz="1200"/>
              <a:t> curves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You will see it as DH (Diffie-Hellman), DHE(Diffie-Hellman ephemeral) and ECDHD(Elliptic curve Diffie-Hellman ephemeral)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It provides forward secrecy. Perfect Forward Secrecy is the property in the cryptography that prevents the exposure of long-term secret keys from compromising the past or future communication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By its own it’s vulnerable to man in the middle attacks</a:t>
            </a:r>
            <a:endParaRPr sz="1200"/>
          </a:p>
        </p:txBody>
      </p:sp>
      <p:pic>
        <p:nvPicPr>
          <p:cNvPr id="80" name="Google Shape;80;p17" title="Diffie-Hellman_Key_Exchange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6375" y="1234975"/>
            <a:ext cx="23812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- Cryptography concepts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7913700" cy="17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PKI - Private key infrastructure and The Chain of Trust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It‘s a hierarchical sequence of certificates where each one is signed by the authority above it. Starting from the leaf certificate up to the root certificate (Trust anchor)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root certificate is self-signed and guarded by a Certificate Authority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This system provides authentication to the TLS protocol and ensures that the data has not been tampered by a man-in-the-middle</a:t>
            </a:r>
            <a:endParaRPr sz="1200"/>
          </a:p>
        </p:txBody>
      </p:sp>
      <p:pic>
        <p:nvPicPr>
          <p:cNvPr id="87" name="Google Shape;87;p18" title="certchai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0" y="3076475"/>
            <a:ext cx="7648008" cy="192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- Handshake 1.2 and 1.3</a:t>
            </a:r>
            <a:endParaRPr/>
          </a:p>
        </p:txBody>
      </p:sp>
      <p:pic>
        <p:nvPicPr>
          <p:cNvPr id="93" name="Google Shape;93;p19" title="graphicC-768x6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73226" cy="362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 title="graphicD-768x46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8600" y="1170127"/>
            <a:ext cx="4186625" cy="29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- Handshake messages 1.3</a:t>
            </a:r>
            <a:endParaRPr/>
          </a:p>
        </p:txBody>
      </p:sp>
      <p:sp>
        <p:nvSpPr>
          <p:cNvPr id="100" name="Google Shape;100;p20"/>
          <p:cNvSpPr txBox="1"/>
          <p:nvPr/>
        </p:nvSpPr>
        <p:spPr>
          <a:xfrm>
            <a:off x="311700" y="1078875"/>
            <a:ext cx="78552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Client Hello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Supported TLS versions - Ex: TLS1.3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Cipher suites - Ex: TLS_AES_256_GCM_SHA256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Key share - an ECDHE public key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Supported groups - Ex: X25519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Signature algorithms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SNI - server name indication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ALPN - application layer protocol - Ex: h2, http/1.1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PSK / 0-RTT info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Server Hello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Chosen TLS version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Chosen cipher suite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Server’s key share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Encrypted Extensions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ALPN selection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Other extensions not needed for the key share process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Certificate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The server’s certificate chain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Certificate Verify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The proof of </a:t>
            </a:r>
            <a:r>
              <a:rPr lang="en" sz="1000">
                <a:solidFill>
                  <a:schemeClr val="dk2"/>
                </a:solidFill>
              </a:rPr>
              <a:t>possession of the private key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It’s a signature over the handshake transcript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Finished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Prove handshake integrity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 sz="1000">
                <a:solidFill>
                  <a:schemeClr val="dk2"/>
                </a:solidFill>
              </a:rPr>
              <a:t>Contains a MAC over the entire handshake transcript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Diffie-Hellman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https://datatracker.ietf.org/doc/html/rfc8446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https://www.geeksforgeeks.org/computer-networks/diffie-hellman-key-exchange-and-perfect-forward-secrecy/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https://www.youtube.com/@Computerphile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6"/>
              </a:rPr>
              <a:t>https://tls13.xargs.org/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7"/>
              </a:rPr>
              <a:t>https://x25519.xargs.org/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8"/>
              </a:rPr>
              <a:t>https://curves.xargs.org/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